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65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本页用于开场。重点说明：本项目不是普通任务清单，而是一个“自然语言到日历记录”的 AI 工具。用户不用理解复杂表单，只要输入一句口语化的话，系统就会调用大模型 API，解析出标题、时间、地点、提醒方式等字段，再由用户确认后保存到本地日历数据库。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本页用于开场。重点说明：本项目不是普通任务清单，而是一个“自然语言到日历记录”的 AI 工具。用户不用理解复杂表单，只要输入一句口语化的话，系统就会调用大模型 API，解析出标题、时间、地点、提醒方式等字段，再由用户确认后保存到本地日历数据库。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本页说明需求来源。传统 App 最大的问题是输入成本高。很多人不是不想记录，而是在忙的时候懒得打开表单逐项填写。本项目用 LLM 来降低输入门槛：用户说一句话，AI 先解析，用户最终确认，既保留效率也保证准确性。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本页展示核心闭环。第一步，用户输入一句自然语言；第二步，App 使用用户填写的 API Key 调用大模型；第三步，大模型返回结构化 JSON 草稿；第四步，用户在确认页检查和修改；第五步，确认后写入 Room 数据库，并根据提醒时间触发 Notification。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本页对应功能设计评分点。核心功能不是简单的增删改查，而是围绕“AI 解析日程”展开：创建、澄清、查看、修改、提醒、API Key 管理。增删改查会自然包含在这些功能内部，例如创建和修改写入数据库，删除在详情页完成，列表通过 RecyclerView 展示。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本页补强页面草图要求。左上是页面跳转关系，右侧是三个手机线框图，分别展示首页输入页、AI 解析确认页和日历看板页。这样既有流程图，也有页面草图，能更明确满足文档对页面结构和原型图的要求。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本页对应数据设计评分点。EventRecord 保存真正的日程数据；ParseHistory 保存每次 AI 调用的输入和输出，用于展示 AI 辅助开发和调试；ApiConfig 保存模型配置，但不直接保存明文 API Key。数据字段与功能一一对应。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本页对应技术实现评分点。需要强调：LLM 只是一个解析模块，真正的 Android 项目仍然包含 Java、RecyclerView、Room、ContentProvider、网络访问、Notification 等课程技术。这样可以避免老师认为只是调用 AI 接口，而不是 Android 课程项目。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本页补强 AI 使用方式。除了展示 Prompt，还明确说明 AI 生成代码后的处理流程：先阅读检查、分模块复制、在 Android Studio 运行、用 Logcat 调试、分别测试各模块，最终由自己整合修改，避免只依赖 AI 生成完整项目。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2057400" cy="292608"/>
          </a:xfrm>
          <a:prstGeom prst="rect">
            <a:avLst/>
          </a:prstGeom>
          <a:solidFill>
            <a:srgbClr val="1E293B">
              <a:alpha val="92000"/>
            </a:srgbClr>
          </a:solidFill>
          <a:ln w="10160">
            <a:solidFill>
              <a:srgbClr val="22D3EE">
                <a:alpha val="7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Android 期末项目前期设计汇报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6492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日程转换助手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2084832"/>
            <a:ext cx="6492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把一句口语化表达，变成可编辑、可提醒的日历记录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907792"/>
            <a:ext cx="5120640" cy="1554480"/>
          </a:xfrm>
          <a:prstGeom prst="rect">
            <a:avLst/>
          </a:prstGeom>
          <a:solidFill>
            <a:srgbClr val="172033"/>
          </a:solidFill>
          <a:ln w="12700">
            <a:solidFill>
              <a:srgbClr val="60A5FA">
                <a:alpha val="75000"/>
              </a:srgbClr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示例：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“下周三下午三点提醒我和小组讨论安卓项目，地点图书馆二楼。”</a:t>
            </a:r>
            <a:endParaRPr lang="en-US" sz="1450" dirty="0"/>
          </a:p>
          <a:p>
            <a:pPr marL="0" indent="0" algn="l">
              <a:buNone/>
            </a:pP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自动解析：时间、标题、地点、提醒方式 → 用户确认 → 写入日历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52360" y="822960"/>
            <a:ext cx="3218688" cy="5230368"/>
          </a:xfrm>
          <a:prstGeom prst="roundRect">
            <a:avLst>
              <a:gd name="adj" fmla="val 7102"/>
            </a:avLst>
          </a:prstGeom>
          <a:solidFill>
            <a:srgbClr val="111827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71816" y="1060704"/>
            <a:ext cx="2779776" cy="4727448"/>
          </a:xfrm>
          <a:prstGeom prst="roundRect">
            <a:avLst>
              <a:gd name="adj" fmla="val 4605"/>
            </a:avLst>
          </a:prstGeom>
          <a:solidFill>
            <a:srgbClr val="10172A"/>
          </a:solidFill>
          <a:ln w="12700">
            <a:solidFill>
              <a:srgbClr val="10172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82128" y="134416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一句话创建日程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00416" y="1901952"/>
            <a:ext cx="2240280" cy="822960"/>
          </a:xfrm>
          <a:prstGeom prst="rect">
            <a:avLst/>
          </a:prstGeom>
          <a:solidFill>
            <a:srgbClr val="223044"/>
          </a:solidFill>
          <a:ln w="12700">
            <a:solidFill>
              <a:srgbClr val="60A5FA">
                <a:alpha val="6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明天 9 点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帮我安排英语演讲练习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34272" y="2871216"/>
            <a:ext cx="0" cy="457200"/>
          </a:xfrm>
          <a:prstGeom prst="line">
            <a:avLst/>
          </a:prstGeom>
          <a:noFill/>
          <a:ln w="19050">
            <a:solidFill>
              <a:srgbClr val="22D3EE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900416" y="3493008"/>
            <a:ext cx="2240280" cy="1417320"/>
          </a:xfrm>
          <a:prstGeom prst="rect">
            <a:avLst/>
          </a:prstGeom>
          <a:solidFill>
            <a:srgbClr val="12283A"/>
          </a:solidFill>
          <a:ln w="12700">
            <a:solidFill>
              <a:srgbClr val="22D3EE">
                <a:alpha val="7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解析结果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标题：英语演讲练习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时间：明天 09:00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类型：学习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提醒：提前 15 分钟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8275320" y="5230368"/>
            <a:ext cx="1463040" cy="292608"/>
          </a:xfrm>
          <a:prstGeom prst="rect">
            <a:avLst/>
          </a:prstGeom>
          <a:solidFill>
            <a:srgbClr val="1E293B">
              <a:alpha val="92000"/>
            </a:srgbClr>
          </a:solidFill>
          <a:ln w="10160">
            <a:solidFill>
              <a:srgbClr val="34D399">
                <a:alpha val="7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确认保存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6016752"/>
            <a:ext cx="5669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班级：23</a:t>
            </a:r>
            <a:r>
              <a:rPr lang="zh-CN" altLang="en-US" sz="108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数字媒体技术</a:t>
            </a:r>
            <a:r>
              <a:rPr lang="en-US" altLang="zh-CN" sz="108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r>
              <a:rPr lang="en-US" sz="108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姓名：</a:t>
            </a:r>
            <a:r>
              <a:rPr lang="zh-CN" altLang="en-US" sz="108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邱启晋</a:t>
            </a:r>
            <a:r>
              <a:rPr lang="en-US" sz="108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学号：23120032040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85800" y="63093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 类型：AI 效率工具 / 智能日程管理 App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11155680" y="6428232"/>
            <a:ext cx="5120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850" dirty="0"/>
          </a:p>
        </p:txBody>
      </p:sp>
      <p:pic>
        <p:nvPicPr>
          <p:cNvPr id="18" name="图片 17" descr="ChatGPT Image 2026年5月21日 05_03_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412750"/>
            <a:ext cx="3498215" cy="6216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ChatGPT Image 2026年5月21日 05_03_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325" y="320675"/>
            <a:ext cx="3498215" cy="6216650"/>
          </a:xfrm>
          <a:prstGeom prst="rect">
            <a:avLst/>
          </a:prstGeom>
        </p:spPr>
      </p:pic>
      <p:pic>
        <p:nvPicPr>
          <p:cNvPr id="20" name="图片 19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235" y="320675"/>
            <a:ext cx="3498215" cy="6216015"/>
          </a:xfrm>
          <a:prstGeom prst="rect">
            <a:avLst/>
          </a:prstGeom>
        </p:spPr>
      </p:pic>
      <p:pic>
        <p:nvPicPr>
          <p:cNvPr id="21" name="图片 20" descr="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145" y="320675"/>
            <a:ext cx="3505200" cy="6229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 项目背景：传统待办 App 的问题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2834640" cy="320040"/>
          </a:xfrm>
          <a:prstGeom prst="rect">
            <a:avLst/>
          </a:prstGeom>
          <a:noFill/>
          <a:ln>
            <a:solidFill>
              <a:srgbClr val="0B1020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B71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 App 常见流程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1965960"/>
            <a:ext cx="2286000" cy="502920"/>
          </a:xfrm>
          <a:prstGeom prst="rect">
            <a:avLst/>
          </a:prstGeom>
          <a:solidFill>
            <a:srgbClr val="2A1B26"/>
          </a:solidFill>
          <a:ln w="13970">
            <a:solidFill>
              <a:srgbClr val="FB7185">
                <a:alpha val="9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点添加按钮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56816" y="2523744"/>
            <a:ext cx="0" cy="338328"/>
          </a:xfrm>
          <a:prstGeom prst="line">
            <a:avLst/>
          </a:prstGeom>
          <a:noFill/>
          <a:ln w="19050">
            <a:solidFill>
              <a:srgbClr val="FB7185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04672" y="2916936"/>
            <a:ext cx="2286000" cy="502920"/>
          </a:xfrm>
          <a:prstGeom prst="rect">
            <a:avLst/>
          </a:prstGeom>
          <a:solidFill>
            <a:srgbClr val="2A1B26"/>
          </a:solidFill>
          <a:ln w="13970">
            <a:solidFill>
              <a:srgbClr val="FB7185">
                <a:alpha val="9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填标题 / 日期 / 时间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56816" y="3493008"/>
            <a:ext cx="0" cy="338328"/>
          </a:xfrm>
          <a:prstGeom prst="line">
            <a:avLst/>
          </a:prstGeom>
          <a:noFill/>
          <a:ln w="19050">
            <a:solidFill>
              <a:srgbClr val="FB7185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04672" y="3886200"/>
            <a:ext cx="2286000" cy="502920"/>
          </a:xfrm>
          <a:prstGeom prst="rect">
            <a:avLst/>
          </a:prstGeom>
          <a:solidFill>
            <a:srgbClr val="2A1B26"/>
          </a:solidFill>
          <a:ln w="13970">
            <a:solidFill>
              <a:srgbClr val="FB7185">
                <a:alpha val="9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选提醒 / 分类 / 地点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56816" y="4462272"/>
            <a:ext cx="0" cy="338328"/>
          </a:xfrm>
          <a:prstGeom prst="line">
            <a:avLst/>
          </a:prstGeom>
          <a:noFill/>
          <a:ln w="19050">
            <a:solidFill>
              <a:srgbClr val="FB7185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04672" y="4855464"/>
            <a:ext cx="2286000" cy="502920"/>
          </a:xfrm>
          <a:prstGeom prst="rect">
            <a:avLst/>
          </a:prstGeom>
          <a:solidFill>
            <a:srgbClr val="2A1B26"/>
          </a:solidFill>
          <a:ln w="13970">
            <a:solidFill>
              <a:srgbClr val="FB7185">
                <a:alpha val="9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保存后还要再检查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1417320"/>
            <a:ext cx="2743200" cy="320040"/>
          </a:xfrm>
          <a:prstGeom prst="rect">
            <a:avLst/>
          </a:prstGeom>
          <a:noFill/>
          <a:ln>
            <a:solidFill>
              <a:srgbClr val="0B1020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4D3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本项目的思路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2066544"/>
            <a:ext cx="2423160" cy="621792"/>
          </a:xfrm>
          <a:prstGeom prst="rect">
            <a:avLst/>
          </a:prstGeom>
          <a:solidFill>
            <a:srgbClr val="113329"/>
          </a:solidFill>
          <a:ln w="13970">
            <a:solidFill>
              <a:srgbClr val="34D399">
                <a:alpha val="9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说一句话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25312" y="2816352"/>
            <a:ext cx="0" cy="384048"/>
          </a:xfrm>
          <a:prstGeom prst="line">
            <a:avLst/>
          </a:prstGeom>
          <a:noFill/>
          <a:ln w="19050">
            <a:solidFill>
              <a:srgbClr val="34D399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709160" y="3273552"/>
            <a:ext cx="2423160" cy="621792"/>
          </a:xfrm>
          <a:prstGeom prst="rect">
            <a:avLst/>
          </a:prstGeom>
          <a:solidFill>
            <a:srgbClr val="113329"/>
          </a:solidFill>
          <a:ln w="13970">
            <a:solidFill>
              <a:srgbClr val="34D399">
                <a:alpha val="9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解析为结构化字段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25312" y="4023360"/>
            <a:ext cx="0" cy="384048"/>
          </a:xfrm>
          <a:prstGeom prst="line">
            <a:avLst/>
          </a:prstGeom>
          <a:noFill/>
          <a:ln w="19050">
            <a:solidFill>
              <a:srgbClr val="34D399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709160" y="4480560"/>
            <a:ext cx="2423160" cy="621792"/>
          </a:xfrm>
          <a:prstGeom prst="rect">
            <a:avLst/>
          </a:prstGeom>
          <a:solidFill>
            <a:srgbClr val="113329"/>
          </a:solidFill>
          <a:ln w="13970">
            <a:solidFill>
              <a:srgbClr val="34D399">
                <a:alpha val="9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用户确认 / 修改后保存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0" y="1417320"/>
            <a:ext cx="2286000" cy="320040"/>
          </a:xfrm>
          <a:prstGeom prst="rect">
            <a:avLst/>
          </a:prstGeom>
          <a:noFill/>
          <a:ln>
            <a:solidFill>
              <a:srgbClr val="0B1020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目标用户与使用场景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92440" y="2011680"/>
            <a:ext cx="3200400" cy="162763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大学生：课程、作业、社团、小组会议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上班族：会议、截止日期、临时提醒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健忘型用户：临时想到就快速记录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高频场景：聊天后立刻生成日程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8092440" y="4187952"/>
            <a:ext cx="3200400" cy="1143000"/>
          </a:xfrm>
          <a:prstGeom prst="rect">
            <a:avLst/>
          </a:prstGeom>
          <a:solidFill>
            <a:srgbClr val="172033"/>
          </a:solidFill>
          <a:ln w="12700">
            <a:solidFill>
              <a:srgbClr val="22D3EE">
                <a:alpha val="70000"/>
              </a:srgbClr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设计目标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75320" y="4480560"/>
            <a:ext cx="2834640" cy="8046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输入更自然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结果可校验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支持自然语言修改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本地可管理与提醒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11155680" y="6428232"/>
            <a:ext cx="5120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产品核心闭环：从口语到日历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3072384"/>
            <a:ext cx="1069848" cy="0"/>
          </a:xfrm>
          <a:prstGeom prst="line">
            <a:avLst/>
          </a:prstGeom>
          <a:noFill/>
          <a:ln w="19050">
            <a:solidFill>
              <a:srgbClr val="22D3EE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069080" y="3072384"/>
            <a:ext cx="1069848" cy="0"/>
          </a:xfrm>
          <a:prstGeom prst="line">
            <a:avLst/>
          </a:prstGeom>
          <a:noFill/>
          <a:ln w="19050">
            <a:solidFill>
              <a:srgbClr val="22D3EE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46520" y="3072384"/>
            <a:ext cx="1069848" cy="0"/>
          </a:xfrm>
          <a:prstGeom prst="line">
            <a:avLst/>
          </a:prstGeom>
          <a:noFill/>
          <a:ln w="19050">
            <a:solidFill>
              <a:srgbClr val="22D3EE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823960" y="3072384"/>
            <a:ext cx="1069848" cy="0"/>
          </a:xfrm>
          <a:prstGeom prst="line">
            <a:avLst/>
          </a:prstGeom>
          <a:noFill/>
          <a:ln w="19050">
            <a:solidFill>
              <a:srgbClr val="22D3EE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85800" y="2395728"/>
            <a:ext cx="1737360" cy="1325880"/>
          </a:xfrm>
          <a:prstGeom prst="rect">
            <a:avLst/>
          </a:prstGeom>
          <a:solidFill>
            <a:srgbClr val="14213D"/>
          </a:solidFill>
          <a:ln w="13970">
            <a:solidFill>
              <a:srgbClr val="60A5FA">
                <a:alpha val="9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自然语言输入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88920" y="2395728"/>
            <a:ext cx="1737360" cy="1325880"/>
          </a:xfrm>
          <a:prstGeom prst="rect">
            <a:avLst/>
          </a:prstGeom>
          <a:solidFill>
            <a:srgbClr val="211A3D"/>
          </a:solidFill>
          <a:ln w="13970">
            <a:solidFill>
              <a:srgbClr val="A78BFA">
                <a:alpha val="9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调用 LLM API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2395728"/>
            <a:ext cx="1965960" cy="1325880"/>
          </a:xfrm>
          <a:prstGeom prst="rect">
            <a:avLst/>
          </a:prstGeom>
          <a:solidFill>
            <a:srgbClr val="12313B"/>
          </a:solidFill>
          <a:ln w="13970">
            <a:solidFill>
              <a:srgbClr val="22D3EE">
                <a:alpha val="9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解析为 JSON 草稿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60920" y="2395728"/>
            <a:ext cx="1737360" cy="1325880"/>
          </a:xfrm>
          <a:prstGeom prst="rect">
            <a:avLst/>
          </a:prstGeom>
          <a:solidFill>
            <a:srgbClr val="372A13"/>
          </a:solidFill>
          <a:ln w="13970">
            <a:solidFill>
              <a:srgbClr val="FBBF24">
                <a:alpha val="9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 / 手动修改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738360" y="2395728"/>
            <a:ext cx="1828800" cy="1325880"/>
          </a:xfrm>
          <a:prstGeom prst="rect">
            <a:avLst/>
          </a:prstGeom>
          <a:solidFill>
            <a:srgbClr val="123328"/>
          </a:solidFill>
          <a:ln w="13970">
            <a:solidFill>
              <a:srgbClr val="34D399">
                <a:alpha val="9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写入日历 + 提醒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8952" y="4315968"/>
            <a:ext cx="3154680" cy="301752"/>
          </a:xfrm>
          <a:prstGeom prst="rect">
            <a:avLst/>
          </a:prstGeom>
          <a:noFill/>
          <a:ln>
            <a:solidFill>
              <a:srgbClr val="0B1020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0A5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用户输入示例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58952" y="4681728"/>
            <a:ext cx="3337560" cy="768096"/>
          </a:xfrm>
          <a:prstGeom prst="rect">
            <a:avLst/>
          </a:prstGeom>
          <a:solidFill>
            <a:srgbClr val="172033"/>
          </a:solidFill>
          <a:ln w="12700">
            <a:solidFill>
              <a:srgbClr val="60A5FA">
                <a:alpha val="6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“周五晚上 7 点帮我记一下和王老师线上讨论论文，提前半小时提醒。”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4572000" y="4315968"/>
            <a:ext cx="2560320" cy="301752"/>
          </a:xfrm>
          <a:prstGeom prst="rect">
            <a:avLst/>
          </a:prstGeom>
          <a:noFill/>
          <a:ln>
            <a:solidFill>
              <a:srgbClr val="0B1020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输出草稿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0" y="4681728"/>
            <a:ext cx="2788920" cy="932688"/>
          </a:xfrm>
          <a:prstGeom prst="rect">
            <a:avLst/>
          </a:prstGeom>
          <a:solidFill>
            <a:srgbClr val="172033"/>
          </a:solidFill>
          <a:ln w="12700">
            <a:solidFill>
              <a:srgbClr val="22D3EE">
                <a:alpha val="6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title: 线上讨论论文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date: 本周五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time: 19:00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people: 王老师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reminder: 提前 30 分钟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973568" y="4315968"/>
            <a:ext cx="2651760" cy="301752"/>
          </a:xfrm>
          <a:prstGeom prst="rect">
            <a:avLst/>
          </a:prstGeom>
          <a:noFill/>
          <a:ln>
            <a:solidFill>
              <a:srgbClr val="0B1020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4D3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用户可继续说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973568" y="4681728"/>
            <a:ext cx="2971800" cy="822960"/>
          </a:xfrm>
          <a:prstGeom prst="rect">
            <a:avLst/>
          </a:prstGeom>
          <a:solidFill>
            <a:srgbClr val="172033"/>
          </a:solidFill>
          <a:ln w="12700">
            <a:solidFill>
              <a:srgbClr val="34D399">
                <a:alpha val="6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“把地点改成腾讯会议，标题改短一点。”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系统定位上一条日程并更新字段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1155680" y="6428232"/>
            <a:ext cx="5120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 基础功能设计：6 个核心功能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08760"/>
            <a:ext cx="4572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>
                <a:alpha val="7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0A5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52728" y="1527048"/>
            <a:ext cx="2606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一句话创建日程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1252728" y="1947672"/>
            <a:ext cx="2788920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输入口语化内容，AI 自动提取标题、时间、地点、提醒。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43400" y="1508760"/>
            <a:ext cx="4572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>
                <a:alpha val="7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1527048"/>
            <a:ext cx="2606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澄清与纠错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4937760" y="1947672"/>
            <a:ext cx="2788920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时间不完整或含糊时，提示用户补充，例如“是本周还是下周？”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028432" y="1508760"/>
            <a:ext cx="4572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>
                <a:alpha val="7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22792" y="1527048"/>
            <a:ext cx="2606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日历 / 列表双视图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8622792" y="1947672"/>
            <a:ext cx="2788920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按日期查看日程，也可用 RecyclerView 展示待办列表。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" y="3886200"/>
            <a:ext cx="4572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7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52728" y="3904488"/>
            <a:ext cx="2606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自然语言修改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1252728" y="4325112"/>
            <a:ext cx="2788920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用户说“把明早会议改到下午”，系统定位并生成修改草稿。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43400" y="3886200"/>
            <a:ext cx="4572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>
                <a:alpha val="7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37760" y="3904488"/>
            <a:ext cx="2606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提醒通知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4937760" y="4325112"/>
            <a:ext cx="2788920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日程到达前通过 Notification 提醒，点击可进入详情页。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28432" y="3886200"/>
            <a:ext cx="4572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FB7185">
                <a:alpha val="75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71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22792" y="3904488"/>
            <a:ext cx="2606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API Key 与隐私设置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8622792" y="4325112"/>
            <a:ext cx="2788920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用户自行填入 LLM API Key，本地加密保存，可随时删除。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51560" y="6080760"/>
            <a:ext cx="9875520" cy="365760"/>
          </a:xfrm>
          <a:prstGeom prst="rect">
            <a:avLst/>
          </a:prstGeom>
          <a:solidFill>
            <a:srgbClr val="102238"/>
          </a:solidFill>
          <a:ln w="12700">
            <a:solidFill>
              <a:srgbClr val="22D3EE">
                <a:alpha val="5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功能边界：AI 只生成“草稿”，真正保存、修改、删除必须由用户确认，避免误写入日程。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155680" y="6428232"/>
            <a:ext cx="5120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 页面结构与页面草图设计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1627632"/>
            <a:ext cx="685800" cy="0"/>
          </a:xfrm>
          <a:prstGeom prst="line">
            <a:avLst/>
          </a:prstGeom>
          <a:noFill/>
          <a:ln w="19050">
            <a:solidFill>
              <a:srgbClr val="22D3EE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434840" y="1627632"/>
            <a:ext cx="685800" cy="0"/>
          </a:xfrm>
          <a:prstGeom prst="line">
            <a:avLst/>
          </a:prstGeom>
          <a:noFill/>
          <a:ln w="19050">
            <a:solidFill>
              <a:srgbClr val="22D3EE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931152" y="1627632"/>
            <a:ext cx="685800" cy="0"/>
          </a:xfrm>
          <a:prstGeom prst="line">
            <a:avLst/>
          </a:prstGeom>
          <a:noFill/>
          <a:ln w="19050">
            <a:solidFill>
              <a:srgbClr val="22D3EE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668512" y="1938528"/>
            <a:ext cx="0" cy="393192"/>
          </a:xfrm>
          <a:prstGeom prst="line">
            <a:avLst/>
          </a:prstGeom>
          <a:noFill/>
          <a:ln w="19050">
            <a:solidFill>
              <a:srgbClr val="34D399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70832" y="4334256"/>
            <a:ext cx="612648" cy="0"/>
          </a:xfrm>
          <a:prstGeom prst="line">
            <a:avLst/>
          </a:prstGeom>
          <a:noFill/>
          <a:ln w="19050">
            <a:solidFill>
              <a:srgbClr val="FBBF24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29000" y="1993392"/>
            <a:ext cx="0" cy="1828800"/>
          </a:xfrm>
          <a:prstGeom prst="line">
            <a:avLst/>
          </a:prstGeom>
          <a:noFill/>
          <a:ln w="19050">
            <a:solidFill>
              <a:srgbClr val="A78BFA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40080" y="1261872"/>
            <a:ext cx="1481328" cy="731520"/>
          </a:xfrm>
          <a:prstGeom prst="rect">
            <a:avLst/>
          </a:prstGeom>
          <a:solidFill>
            <a:srgbClr val="211A3D"/>
          </a:solidFill>
          <a:ln w="13970">
            <a:solidFill>
              <a:srgbClr val="A78BFA">
                <a:alpha val="9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设置页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API Key / 模型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2661285" y="1261872"/>
            <a:ext cx="1719072" cy="731520"/>
          </a:xfrm>
          <a:prstGeom prst="rect">
            <a:avLst/>
          </a:prstGeom>
          <a:solidFill>
            <a:srgbClr val="14213D"/>
          </a:solidFill>
          <a:ln w="13970">
            <a:solidFill>
              <a:srgbClr val="60A5FA">
                <a:alpha val="9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首页输入页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一句话输入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5129530" y="1261872"/>
            <a:ext cx="1719072" cy="731520"/>
          </a:xfrm>
          <a:prstGeom prst="rect">
            <a:avLst/>
          </a:prstGeom>
          <a:solidFill>
            <a:srgbClr val="12313B"/>
          </a:solidFill>
          <a:ln w="13970">
            <a:solidFill>
              <a:srgbClr val="22D3EE">
                <a:alpha val="9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AI确认页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字段检查 / 保存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753223" y="1261872"/>
            <a:ext cx="1719072" cy="731520"/>
          </a:xfrm>
          <a:prstGeom prst="rect">
            <a:avLst/>
          </a:prstGeom>
          <a:solidFill>
            <a:srgbClr val="123328"/>
          </a:solidFill>
          <a:ln w="13970">
            <a:solidFill>
              <a:srgbClr val="34D399">
                <a:alpha val="9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日历看板页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日期 + 列表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560320" y="3968496"/>
            <a:ext cx="1719072" cy="731520"/>
          </a:xfrm>
          <a:prstGeom prst="rect">
            <a:avLst/>
          </a:prstGeom>
          <a:solidFill>
            <a:srgbClr val="372A13"/>
          </a:solidFill>
          <a:ln w="13970">
            <a:solidFill>
              <a:srgbClr val="FBBF24">
                <a:alpha val="9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详情编辑页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修改 / 删除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74920" y="3968496"/>
            <a:ext cx="1719072" cy="731520"/>
          </a:xfrm>
          <a:prstGeom prst="rect">
            <a:avLst/>
          </a:prstGeom>
          <a:solidFill>
            <a:srgbClr val="3A1825"/>
          </a:solidFill>
          <a:ln w="13970">
            <a:solidFill>
              <a:srgbClr val="FB7185">
                <a:alpha val="9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解析历史页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原句 / JSON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7662672" y="3154680"/>
            <a:ext cx="1280160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60A5FA">
                <a:alpha val="8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首页输入页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────────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输入一句话：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“周五7点讨论论文”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 AI 解析 ]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控件：EditText + Button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70848" y="3154680"/>
            <a:ext cx="1389888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22D3EE">
                <a:alpha val="8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AI确认页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────────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标题：论文讨论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时间：周五 19:00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地点：腾讯会议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提醒：提前30分钟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[确认保存]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88752" y="3154680"/>
            <a:ext cx="1344168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4D399">
                <a:alpha val="80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日历看板页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────────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月日历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□ □ □ ■ □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19:00 论文讨论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明天 09:00 早会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控件：CalendarView + RecyclerView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760720"/>
            <a:ext cx="10469880" cy="41148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>
                <a:alpha val="65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页面草图说明：右侧三个手机线框分别对应首页输入页、AI 解析确认页、日历看板页；左侧流程图展示所有主要页面之间的跳转关系。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11155680" y="6428232"/>
            <a:ext cx="5120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 数据设计：让 AI 输出落到数据库字段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4D3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EventRecord（日程表）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3154680" cy="2331720"/>
          </a:xfrm>
          <a:prstGeom prst="rect">
            <a:avLst/>
          </a:prstGeom>
          <a:solidFill>
            <a:srgbClr val="172033"/>
          </a:solidFill>
          <a:ln w="12700">
            <a:solidFill>
              <a:srgbClr val="34D399">
                <a:alpha val="5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id：主键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title：日程标题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startTime / endTime：开始与结束时间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location：地点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reminderMinutes：提前提醒分钟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sourceText：用户原始输入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status：草稿 / 已保存 / 已完成</a:t>
            </a:r>
            <a:endParaRPr lang="en-US" sz="1070" dirty="0"/>
          </a:p>
        </p:txBody>
      </p:sp>
      <p:sp>
        <p:nvSpPr>
          <p:cNvPr id="7" name="Text 5"/>
          <p:cNvSpPr/>
          <p:nvPr/>
        </p:nvSpPr>
        <p:spPr>
          <a:xfrm>
            <a:off x="4489704" y="1508760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ParseHistory（解析历史）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89704" y="1965960"/>
            <a:ext cx="3154680" cy="2331720"/>
          </a:xfrm>
          <a:prstGeom prst="rect">
            <a:avLst/>
          </a:prstGeom>
          <a:solidFill>
            <a:srgbClr val="172033"/>
          </a:solidFill>
          <a:ln w="12700">
            <a:solidFill>
              <a:srgbClr val="22D3EE">
                <a:alpha val="5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id：主键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inputText：原始口语文本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modelName：调用模型名称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jsonResult：AI 返回 JSON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confidence：解析可信度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createdAt：解析时间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isApplied：是否已写入日程</a:t>
            </a:r>
            <a:endParaRPr lang="en-US" sz="1070" dirty="0"/>
          </a:p>
        </p:txBody>
      </p:sp>
      <p:sp>
        <p:nvSpPr>
          <p:cNvPr id="9" name="Text 7"/>
          <p:cNvSpPr/>
          <p:nvPr/>
        </p:nvSpPr>
        <p:spPr>
          <a:xfrm>
            <a:off x="8293608" y="1508760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78B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ApiConfig（配置表）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93608" y="1965960"/>
            <a:ext cx="3154680" cy="2331720"/>
          </a:xfrm>
          <a:prstGeom prst="rect">
            <a:avLst/>
          </a:prstGeom>
          <a:solidFill>
            <a:srgbClr val="172033"/>
          </a:solidFill>
          <a:ln w="12700">
            <a:solidFill>
              <a:srgbClr val="A78BFA">
                <a:alpha val="5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id：主键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provider：OpenAI兼容 / 其他服务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baseUrl：接口地址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modelName：模型名称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keyAlias：Keystore 中的密钥别名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createdAt / updatedAt：更新时间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914400" y="4681728"/>
            <a:ext cx="1417320" cy="256032"/>
          </a:xfrm>
          <a:prstGeom prst="rect">
            <a:avLst/>
          </a:prstGeom>
          <a:noFill/>
          <a:ln>
            <a:solidFill>
              <a:srgbClr val="0B1020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FBB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关键原则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2286000" y="5074920"/>
            <a:ext cx="8549640" cy="60350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用户最终确认后，AI 解析结果才会写入 EventRecord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ParseHistory 用于调试、回溯和展示 AI 辅助过程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API Key 不明文写入数据库，使用 Android Keystore 保存或加密引用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914400" y="6062472"/>
            <a:ext cx="9921240" cy="310896"/>
          </a:xfrm>
          <a:prstGeom prst="rect">
            <a:avLst/>
          </a:prstGeom>
          <a:solidFill>
            <a:srgbClr val="122238"/>
          </a:solidFill>
          <a:ln w="12700">
            <a:solidFill>
              <a:srgbClr val="334155">
                <a:alpha val="6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示例字段组合：sourceText + jsonResult 可以证明“口语输入 → 结构化结果”的完整链路，适合汇报展示。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11155680" y="6428232"/>
            <a:ext cx="5120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 Android 技术实现方案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20116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60A5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Java</a:t>
            </a:r>
            <a:endParaRPr lang="en-US" sz="1270" dirty="0"/>
          </a:p>
        </p:txBody>
      </p:sp>
      <p:sp>
        <p:nvSpPr>
          <p:cNvPr id="6" name="Text 4"/>
          <p:cNvSpPr/>
          <p:nvPr/>
        </p:nvSpPr>
        <p:spPr>
          <a:xfrm>
            <a:off x="2788920" y="1417320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主开发语言，编写 Activity、Adapter、Dao、网络请求与通知逻辑</a:t>
            </a:r>
            <a:endParaRPr lang="en-US" sz="1160" dirty="0"/>
          </a:p>
        </p:txBody>
      </p:sp>
      <p:sp>
        <p:nvSpPr>
          <p:cNvPr id="7" name="Shape 5"/>
          <p:cNvSpPr/>
          <p:nvPr/>
        </p:nvSpPr>
        <p:spPr>
          <a:xfrm>
            <a:off x="731520" y="1856232"/>
            <a:ext cx="10424160" cy="0"/>
          </a:xfrm>
          <a:prstGeom prst="line">
            <a:avLst/>
          </a:prstGeom>
          <a:noFill/>
          <a:ln w="889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48256"/>
            <a:ext cx="20116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RecyclerView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2788920" y="2048256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在日历看板页展示当天 / 本周日程列表，支持点击进入详情页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731520" y="2487168"/>
            <a:ext cx="10424160" cy="0"/>
          </a:xfrm>
          <a:prstGeom prst="line">
            <a:avLst/>
          </a:prstGeom>
          <a:noFill/>
          <a:ln w="889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79192"/>
            <a:ext cx="20116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34D3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Room 数据库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2788920" y="2679192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 EventRecord、ParseHistory、ApiConfig 等本地数据表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731520" y="3118104"/>
            <a:ext cx="10424160" cy="0"/>
          </a:xfrm>
          <a:prstGeom prst="line">
            <a:avLst/>
          </a:prstGeom>
          <a:noFill/>
          <a:ln w="889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310128"/>
            <a:ext cx="20116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A78B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ContentProvider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2788920" y="3310128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封装日程数据访问接口，便于列表页、详情页、通知点击页统一查询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10424160" cy="0"/>
          </a:xfrm>
          <a:prstGeom prst="line">
            <a:avLst/>
          </a:prstGeom>
          <a:noFill/>
          <a:ln w="889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41064"/>
            <a:ext cx="20116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FBB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OkHttp / Retrofit</a:t>
            </a:r>
            <a:endParaRPr lang="en-US" sz="1270" dirty="0"/>
          </a:p>
        </p:txBody>
      </p:sp>
      <p:sp>
        <p:nvSpPr>
          <p:cNvPr id="18" name="Text 16"/>
          <p:cNvSpPr/>
          <p:nvPr/>
        </p:nvSpPr>
        <p:spPr>
          <a:xfrm>
            <a:off x="2788920" y="3941064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使用用户的 API Key 调用 LLM 接口，提交 prompt 并接收 JSON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731520" y="4379976"/>
            <a:ext cx="10424160" cy="0"/>
          </a:xfrm>
          <a:prstGeom prst="line">
            <a:avLst/>
          </a:prstGeom>
          <a:noFill/>
          <a:ln w="889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572000"/>
            <a:ext cx="20116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FB71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Notification</a:t>
            </a:r>
            <a:endParaRPr lang="en-US" sz="1270" dirty="0"/>
          </a:p>
        </p:txBody>
      </p:sp>
      <p:sp>
        <p:nvSpPr>
          <p:cNvPr id="21" name="Text 19"/>
          <p:cNvSpPr/>
          <p:nvPr/>
        </p:nvSpPr>
        <p:spPr>
          <a:xfrm>
            <a:off x="2788920" y="4572000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根据提醒时间生成通知，点击通知跳转到日程详情页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731520" y="5010912"/>
            <a:ext cx="10424160" cy="0"/>
          </a:xfrm>
          <a:prstGeom prst="line">
            <a:avLst/>
          </a:prstGeom>
          <a:noFill/>
          <a:ln w="889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202936"/>
            <a:ext cx="20116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60A5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AlarmManager / WorkManager</a:t>
            </a:r>
            <a:endParaRPr lang="en-US" sz="1270" dirty="0"/>
          </a:p>
        </p:txBody>
      </p:sp>
      <p:sp>
        <p:nvSpPr>
          <p:cNvPr id="24" name="Text 22"/>
          <p:cNvSpPr/>
          <p:nvPr/>
        </p:nvSpPr>
        <p:spPr>
          <a:xfrm>
            <a:off x="2788920" y="5202936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安排未来提醒任务，保证 App 退出后仍能按时提醒</a:t>
            </a:r>
            <a:endParaRPr lang="en-US" sz="1160" dirty="0"/>
          </a:p>
        </p:txBody>
      </p:sp>
      <p:sp>
        <p:nvSpPr>
          <p:cNvPr id="25" name="Shape 23"/>
          <p:cNvSpPr/>
          <p:nvPr/>
        </p:nvSpPr>
        <p:spPr>
          <a:xfrm>
            <a:off x="731520" y="5641848"/>
            <a:ext cx="10424160" cy="0"/>
          </a:xfrm>
          <a:prstGeom prst="line">
            <a:avLst/>
          </a:prstGeom>
          <a:noFill/>
          <a:ln w="889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6016752"/>
            <a:ext cx="10104120" cy="384048"/>
          </a:xfrm>
          <a:prstGeom prst="rect">
            <a:avLst/>
          </a:prstGeom>
          <a:solidFill>
            <a:srgbClr val="102238"/>
          </a:solidFill>
          <a:ln w="12700">
            <a:solidFill>
              <a:srgbClr val="22D3EE">
                <a:alpha val="5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实现重点：LLM API 只负责“解析文本”；日程的增删改查、提醒和页面展示仍由 Android 本地逻辑完成，保证项目符合课程要求。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11155680" y="6428232"/>
            <a:ext cx="5120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 LLM Prompt 设计、AI 使用方式与开发计划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35024"/>
            <a:ext cx="2468880" cy="274320"/>
          </a:xfrm>
          <a:prstGeom prst="rect">
            <a:avLst/>
          </a:prstGeom>
          <a:noFill/>
          <a:ln>
            <a:solidFill>
              <a:srgbClr val="0B1020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 Prompt 思路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685800" y="1664208"/>
            <a:ext cx="3858768" cy="941832"/>
          </a:xfrm>
          <a:prstGeom prst="rect">
            <a:avLst/>
          </a:prstGeom>
          <a:solidFill>
            <a:srgbClr val="172033"/>
          </a:solidFill>
          <a:ln w="12700">
            <a:solidFill>
              <a:srgbClr val="22D3EE">
                <a:alpha val="65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你是日程解析助手。请把用户输入解析为 JSON，只允许输出：title、startTime、endTime、location、reminderMinutes、needClarification、question。若时间不明确，请不要猜测，返回 needClarification=true。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926080" cy="274320"/>
          </a:xfrm>
          <a:prstGeom prst="rect">
            <a:avLst/>
          </a:prstGeom>
          <a:noFill/>
          <a:ln>
            <a:solidFill>
              <a:srgbClr val="0B1020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34D3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辅助开发提示词示例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685800" y="3127248"/>
            <a:ext cx="3977640" cy="85953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请用 Java 设计 Room 的 Entity、Dao、Database，用于保存 EventRecord。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请写 RecyclerView Adapter，展示日程标题、时间、地点和提醒状态。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请给出 Android Notification 示例，点击通知后进入日程详情页。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4343400"/>
            <a:ext cx="2971800" cy="274320"/>
          </a:xfrm>
          <a:prstGeom prst="rect">
            <a:avLst/>
          </a:prstGeom>
          <a:noFill/>
          <a:ln>
            <a:solidFill>
              <a:srgbClr val="0B1020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FBB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生成代码后的处理方式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85800" y="4681728"/>
            <a:ext cx="4754880" cy="121615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先阅读代码，检查类名、包名、字段与项目结构是否一致。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只分模块复制 Entity、Adapter、Notification 等局部代码，不直接复制完整项目。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在 Android Studio 中运行，用 Logcat 定位编译错误和运行异常。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分别测试 Room、RecyclerView、网络请求、通知四个模块。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最终由自己整合、删改和调试，确保能现场演示。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5715000" y="1335024"/>
            <a:ext cx="1920240" cy="274320"/>
          </a:xfrm>
          <a:prstGeom prst="rect">
            <a:avLst/>
          </a:prstGeom>
          <a:noFill/>
          <a:ln>
            <a:solidFill>
              <a:srgbClr val="0B1020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FBB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开发计划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5715000" y="1755648"/>
            <a:ext cx="8412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BB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第1阶段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6629400" y="1755648"/>
            <a:ext cx="4434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完成页面原型、数据表与 Prompt 设计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5715000" y="2212848"/>
            <a:ext cx="8412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BB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第2阶段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6629400" y="2212848"/>
            <a:ext cx="4434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 Room 数据库与 RecyclerView 日程列表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5715000" y="2670048"/>
            <a:ext cx="8412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BB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第3阶段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6629400" y="2670048"/>
            <a:ext cx="4434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接入 LLM API，完成 JSON 解析与异常处理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5715000" y="3127248"/>
            <a:ext cx="8412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BB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第4阶段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6629400" y="3127248"/>
            <a:ext cx="4434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完成确认页、自然语言修改和 Notification 提醒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5715000" y="3584448"/>
            <a:ext cx="8412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BBF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第5阶段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6629400" y="3584448"/>
            <a:ext cx="4434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整体测试、修复 Bug、录制汇报视频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5715000" y="4160520"/>
            <a:ext cx="2377440" cy="274320"/>
          </a:xfrm>
          <a:prstGeom prst="rect">
            <a:avLst/>
          </a:prstGeom>
          <a:noFill/>
          <a:ln>
            <a:solidFill>
              <a:srgbClr val="0B1020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FB71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风险与解决方案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5715000" y="4498848"/>
            <a:ext cx="4937760" cy="8961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AI 解析错误：保存前必须确认，可手动修改字段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API Key 泄露风险：不明文保存，使用 Keystore 或加密引用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网络失败：保留原始输入，允许稍后重新解析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时间歧义：返回澄清问题，不直接写入日程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0120" y="6144768"/>
            <a:ext cx="10104120" cy="320040"/>
          </a:xfrm>
          <a:prstGeom prst="rect">
            <a:avLst/>
          </a:prstGeom>
          <a:solidFill>
            <a:srgbClr val="122238"/>
          </a:solidFill>
          <a:ln w="12700">
            <a:solidFill>
              <a:srgbClr val="334155">
                <a:alpha val="6500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预期成果：完整演示“自然语言输入 → AI 解析 JSON → 用户确认/修改 → 写入本地日历 → 列表展示 → 通知提醒”。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11155680" y="6428232"/>
            <a:ext cx="5120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3235</Words>
  <Application>WPS 演示</Application>
  <PresentationFormat>On-screen Show (16:9)</PresentationFormat>
  <Paragraphs>324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Noto Sans CJK SC</vt:lpstr>
      <vt:lpstr>Segoe Print</vt:lpstr>
      <vt:lpstr>Noto Sans CJK SC</vt:lpstr>
      <vt:lpstr>Noto Sans CJK SC</vt:lpstr>
      <vt:lpstr>微软雅黑</vt:lpstr>
      <vt:lpstr>Arial Unicode MS</vt:lpstr>
      <vt:lpstr>MingLiU-ExtB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AI日程转换助手 - Android期末项目前期设计汇报</dc:title>
  <dc:creator>OpenAI</dc:creator>
  <dc:subject>Android期末项目前期设计汇报</dc:subject>
  <cp:lastModifiedBy>阪凍</cp:lastModifiedBy>
  <cp:revision>6</cp:revision>
  <dcterms:created xsi:type="dcterms:W3CDTF">2026-05-20T20:53:00Z</dcterms:created>
  <dcterms:modified xsi:type="dcterms:W3CDTF">2026-05-21T13:01:03Z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CFF9A3EFB291400ABE5AA79D635AAC9B_12</vt:lpwstr>
  </property>
</Properties>
</file>